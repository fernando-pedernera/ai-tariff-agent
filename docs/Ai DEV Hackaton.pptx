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p:scale>
          <a:sx n="90" d="100"/>
          <a:sy n="90" d="100"/>
        </p:scale>
        <p:origin x="66"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356622-02FA-4BE6-A33D-B3E770FBF858}" type="datetimeFigureOut">
              <a:rPr lang="es-AR" smtClean="0"/>
              <a:t>14/3/2026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9E0953-917E-4E74-8960-0970788DB7D3}" type="slidenum">
              <a:rPr lang="es-AR" smtClean="0"/>
              <a:t>‹Nº›</a:t>
            </a:fld>
            <a:endParaRPr lang="es-AR"/>
          </a:p>
        </p:txBody>
      </p:sp>
    </p:spTree>
    <p:extLst>
      <p:ext uri="{BB962C8B-B14F-4D97-AF65-F5344CB8AC3E}">
        <p14:creationId xmlns:p14="http://schemas.microsoft.com/office/powerpoint/2010/main" val="339739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s-AR" dirty="0"/>
              <a:t>¡Hola a todos! Soy Fernando Pedernera, especialista en comercio internacional. Hoy les presento mi proyecto para el AI Dev Days Hackathon: el </a:t>
            </a:r>
            <a:r>
              <a:rPr lang="es-AR" b="1" dirty="0"/>
              <a:t>Customs AI Agent</a:t>
            </a:r>
            <a:r>
              <a:rPr lang="es-AR" dirty="0"/>
              <a:t>, un clasificador inteligente para el comercio global.</a:t>
            </a:r>
          </a:p>
        </p:txBody>
      </p:sp>
      <p:sp>
        <p:nvSpPr>
          <p:cNvPr id="4" name="Marcador de número de diapositiva 3"/>
          <p:cNvSpPr>
            <a:spLocks noGrp="1"/>
          </p:cNvSpPr>
          <p:nvPr>
            <p:ph type="sldNum" sz="quarter" idx="5"/>
          </p:nvPr>
        </p:nvSpPr>
        <p:spPr/>
        <p:txBody>
          <a:bodyPr/>
          <a:lstStyle/>
          <a:p>
            <a:fld id="{239E0953-917E-4E74-8960-0970788DB7D3}" type="slidenum">
              <a:rPr lang="es-AR" smtClean="0"/>
              <a:t>1</a:t>
            </a:fld>
            <a:endParaRPr lang="es-AR"/>
          </a:p>
        </p:txBody>
      </p:sp>
    </p:spTree>
    <p:extLst>
      <p:ext uri="{BB962C8B-B14F-4D97-AF65-F5344CB8AC3E}">
        <p14:creationId xmlns:p14="http://schemas.microsoft.com/office/powerpoint/2010/main" val="2571064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La clasificación arancelaria es una tarea crítica y compleja. Exige una precisión total, ya que los errores manuales en los códigos NCM o HS derivan en multas costosas, retrasos logísticos y riesgos de cumplimiento.</a:t>
            </a:r>
          </a:p>
        </p:txBody>
      </p:sp>
      <p:sp>
        <p:nvSpPr>
          <p:cNvPr id="4" name="Marcador de número de diapositiva 3"/>
          <p:cNvSpPr>
            <a:spLocks noGrp="1"/>
          </p:cNvSpPr>
          <p:nvPr>
            <p:ph type="sldNum" sz="quarter" idx="5"/>
          </p:nvPr>
        </p:nvSpPr>
        <p:spPr/>
        <p:txBody>
          <a:bodyPr/>
          <a:lstStyle/>
          <a:p>
            <a:fld id="{239E0953-917E-4E74-8960-0970788DB7D3}" type="slidenum">
              <a:rPr lang="es-AR" smtClean="0"/>
              <a:t>2</a:t>
            </a:fld>
            <a:endParaRPr lang="es-AR"/>
          </a:p>
        </p:txBody>
      </p:sp>
    </p:spTree>
    <p:extLst>
      <p:ext uri="{BB962C8B-B14F-4D97-AF65-F5344CB8AC3E}">
        <p14:creationId xmlns:p14="http://schemas.microsoft.com/office/powerpoint/2010/main" val="1520074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Nuestra solución utiliza un Agente de IA que aplica las Reglas Generales de Interpretación y notas legales. El agente no solo entrega un código, sino que genera un dictamen técnico con la justificación legal completa.</a:t>
            </a:r>
          </a:p>
        </p:txBody>
      </p:sp>
      <p:sp>
        <p:nvSpPr>
          <p:cNvPr id="4" name="Marcador de número de diapositiva 3"/>
          <p:cNvSpPr>
            <a:spLocks noGrp="1"/>
          </p:cNvSpPr>
          <p:nvPr>
            <p:ph type="sldNum" sz="quarter" idx="5"/>
          </p:nvPr>
        </p:nvSpPr>
        <p:spPr/>
        <p:txBody>
          <a:bodyPr/>
          <a:lstStyle/>
          <a:p>
            <a:fld id="{239E0953-917E-4E74-8960-0970788DB7D3}" type="slidenum">
              <a:rPr lang="es-AR" smtClean="0"/>
              <a:t>3</a:t>
            </a:fld>
            <a:endParaRPr lang="es-AR"/>
          </a:p>
        </p:txBody>
      </p:sp>
    </p:spTree>
    <p:extLst>
      <p:ext uri="{BB962C8B-B14F-4D97-AF65-F5344CB8AC3E}">
        <p14:creationId xmlns:p14="http://schemas.microsoft.com/office/powerpoint/2010/main" val="741656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Esta arquitectura se basa en el </a:t>
            </a:r>
            <a:r>
              <a:rPr lang="es-AR" dirty="0" err="1"/>
              <a:t>stack</a:t>
            </a:r>
            <a:r>
              <a:rPr lang="es-AR" dirty="0"/>
              <a:t> de Microsoft. Utilizamos </a:t>
            </a:r>
            <a:r>
              <a:rPr lang="es-AR" b="1" dirty="0"/>
              <a:t>Azure </a:t>
            </a:r>
            <a:r>
              <a:rPr lang="es-AR" b="1" dirty="0" err="1"/>
              <a:t>OpenAI</a:t>
            </a:r>
            <a:r>
              <a:rPr lang="es-AR" dirty="0"/>
              <a:t> para el razonamiento y </a:t>
            </a:r>
            <a:r>
              <a:rPr lang="es-AR" b="1" dirty="0"/>
              <a:t>FAISS</a:t>
            </a:r>
            <a:r>
              <a:rPr lang="es-AR" dirty="0"/>
              <a:t> para la recuperación de datos. Todo el flujo de trabajo está integrado con Azure </a:t>
            </a:r>
            <a:r>
              <a:rPr lang="es-AR" dirty="0" err="1"/>
              <a:t>Foundry</a:t>
            </a:r>
            <a:r>
              <a:rPr lang="es-AR" dirty="0"/>
              <a:t> y GitHub </a:t>
            </a:r>
            <a:r>
              <a:rPr lang="es-AR" dirty="0" err="1"/>
              <a:t>Copilot</a:t>
            </a:r>
            <a:r>
              <a:rPr lang="es-AR" dirty="0"/>
              <a:t>.</a:t>
            </a:r>
          </a:p>
        </p:txBody>
      </p:sp>
      <p:sp>
        <p:nvSpPr>
          <p:cNvPr id="4" name="Marcador de número de diapositiva 3"/>
          <p:cNvSpPr>
            <a:spLocks noGrp="1"/>
          </p:cNvSpPr>
          <p:nvPr>
            <p:ph type="sldNum" sz="quarter" idx="5"/>
          </p:nvPr>
        </p:nvSpPr>
        <p:spPr/>
        <p:txBody>
          <a:bodyPr/>
          <a:lstStyle/>
          <a:p>
            <a:fld id="{239E0953-917E-4E74-8960-0970788DB7D3}" type="slidenum">
              <a:rPr lang="es-AR" smtClean="0"/>
              <a:t>4</a:t>
            </a:fld>
            <a:endParaRPr lang="es-AR"/>
          </a:p>
        </p:txBody>
      </p:sp>
    </p:spTree>
    <p:extLst>
      <p:ext uri="{BB962C8B-B14F-4D97-AF65-F5344CB8AC3E}">
        <p14:creationId xmlns:p14="http://schemas.microsoft.com/office/powerpoint/2010/main" val="1433986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Vamos a verlo en acción. Ingresamos un producto, como 'Baterías de Litio', y el agente consulta la base de datos del Mercosur, aplica las reglas y devuelve la clasificación verificada con su sustento legal inmediato.</a:t>
            </a:r>
          </a:p>
        </p:txBody>
      </p:sp>
      <p:sp>
        <p:nvSpPr>
          <p:cNvPr id="4" name="Marcador de número de diapositiva 3"/>
          <p:cNvSpPr>
            <a:spLocks noGrp="1"/>
          </p:cNvSpPr>
          <p:nvPr>
            <p:ph type="sldNum" sz="quarter" idx="5"/>
          </p:nvPr>
        </p:nvSpPr>
        <p:spPr/>
        <p:txBody>
          <a:bodyPr/>
          <a:lstStyle/>
          <a:p>
            <a:fld id="{239E0953-917E-4E74-8960-0970788DB7D3}" type="slidenum">
              <a:rPr lang="es-AR" smtClean="0"/>
              <a:t>5</a:t>
            </a:fld>
            <a:endParaRPr lang="es-AR"/>
          </a:p>
        </p:txBody>
      </p:sp>
    </p:spTree>
    <p:extLst>
      <p:ext uri="{BB962C8B-B14F-4D97-AF65-F5344CB8AC3E}">
        <p14:creationId xmlns:p14="http://schemas.microsoft.com/office/powerpoint/2010/main" val="1237648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El impacto es directo: podemos aumentar la velocidad de clasificación en un 85% y reducir los costos operativos en un 70%. Es una herramienta clave para autoridades aduaneras y equipos de logística.</a:t>
            </a:r>
          </a:p>
        </p:txBody>
      </p:sp>
      <p:sp>
        <p:nvSpPr>
          <p:cNvPr id="4" name="Marcador de número de diapositiva 3"/>
          <p:cNvSpPr>
            <a:spLocks noGrp="1"/>
          </p:cNvSpPr>
          <p:nvPr>
            <p:ph type="sldNum" sz="quarter" idx="5"/>
          </p:nvPr>
        </p:nvSpPr>
        <p:spPr/>
        <p:txBody>
          <a:bodyPr/>
          <a:lstStyle/>
          <a:p>
            <a:fld id="{239E0953-917E-4E74-8960-0970788DB7D3}" type="slidenum">
              <a:rPr lang="es-AR" smtClean="0"/>
              <a:t>6</a:t>
            </a:fld>
            <a:endParaRPr lang="es-AR"/>
          </a:p>
        </p:txBody>
      </p:sp>
    </p:spTree>
    <p:extLst>
      <p:ext uri="{BB962C8B-B14F-4D97-AF65-F5344CB8AC3E}">
        <p14:creationId xmlns:p14="http://schemas.microsoft.com/office/powerpoint/2010/main" val="1011197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Priorizamos la IA responsable. El agente es una herramienta de soporte poderosa, pero el diseño incluye un paso de validación humana para que la decisión final siempre sea supervisada por un experto.</a:t>
            </a:r>
          </a:p>
        </p:txBody>
      </p:sp>
      <p:sp>
        <p:nvSpPr>
          <p:cNvPr id="4" name="Marcador de número de diapositiva 3"/>
          <p:cNvSpPr>
            <a:spLocks noGrp="1"/>
          </p:cNvSpPr>
          <p:nvPr>
            <p:ph type="sldNum" sz="quarter" idx="5"/>
          </p:nvPr>
        </p:nvSpPr>
        <p:spPr/>
        <p:txBody>
          <a:bodyPr/>
          <a:lstStyle/>
          <a:p>
            <a:fld id="{239E0953-917E-4E74-8960-0970788DB7D3}" type="slidenum">
              <a:rPr lang="es-AR" smtClean="0"/>
              <a:t>7</a:t>
            </a:fld>
            <a:endParaRPr lang="es-AR"/>
          </a:p>
        </p:txBody>
      </p:sp>
    </p:spTree>
    <p:extLst>
      <p:ext uri="{BB962C8B-B14F-4D97-AF65-F5344CB8AC3E}">
        <p14:creationId xmlns:p14="http://schemas.microsoft.com/office/powerpoint/2010/main" val="2208353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Estamos listos para escalar a una arquitectura </a:t>
            </a:r>
            <a:r>
              <a:rPr lang="es-AR" dirty="0" err="1"/>
              <a:t>multi-agente</a:t>
            </a:r>
            <a:r>
              <a:rPr lang="es-AR" dirty="0"/>
              <a:t> y desplegar la solución completa en Azure. El repositorio es público y la demo está disponible para empezar a trabajar.</a:t>
            </a:r>
          </a:p>
        </p:txBody>
      </p:sp>
      <p:sp>
        <p:nvSpPr>
          <p:cNvPr id="4" name="Marcador de número de diapositiva 3"/>
          <p:cNvSpPr>
            <a:spLocks noGrp="1"/>
          </p:cNvSpPr>
          <p:nvPr>
            <p:ph type="sldNum" sz="quarter" idx="5"/>
          </p:nvPr>
        </p:nvSpPr>
        <p:spPr/>
        <p:txBody>
          <a:bodyPr/>
          <a:lstStyle/>
          <a:p>
            <a:fld id="{239E0953-917E-4E74-8960-0970788DB7D3}" type="slidenum">
              <a:rPr lang="es-AR" smtClean="0"/>
              <a:t>8</a:t>
            </a:fld>
            <a:endParaRPr lang="es-AR"/>
          </a:p>
        </p:txBody>
      </p:sp>
    </p:spTree>
    <p:extLst>
      <p:ext uri="{BB962C8B-B14F-4D97-AF65-F5344CB8AC3E}">
        <p14:creationId xmlns:p14="http://schemas.microsoft.com/office/powerpoint/2010/main" val="820005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¡Muchas gracias por su tiempo!</a:t>
            </a:r>
          </a:p>
        </p:txBody>
      </p:sp>
      <p:sp>
        <p:nvSpPr>
          <p:cNvPr id="4" name="Marcador de número de diapositiva 3"/>
          <p:cNvSpPr>
            <a:spLocks noGrp="1"/>
          </p:cNvSpPr>
          <p:nvPr>
            <p:ph type="sldNum" sz="quarter" idx="5"/>
          </p:nvPr>
        </p:nvSpPr>
        <p:spPr/>
        <p:txBody>
          <a:bodyPr/>
          <a:lstStyle/>
          <a:p>
            <a:fld id="{239E0953-917E-4E74-8960-0970788DB7D3}" type="slidenum">
              <a:rPr lang="es-AR" smtClean="0"/>
              <a:t>9</a:t>
            </a:fld>
            <a:endParaRPr lang="es-AR"/>
          </a:p>
        </p:txBody>
      </p:sp>
    </p:spTree>
    <p:extLst>
      <p:ext uri="{BB962C8B-B14F-4D97-AF65-F5344CB8AC3E}">
        <p14:creationId xmlns:p14="http://schemas.microsoft.com/office/powerpoint/2010/main" val="2165601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D9539C-F4CD-9DE6-4F24-F3301DF685C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8E73C209-AD39-5707-61D6-DC63351815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31D2DD8A-5CAB-E13E-8B2D-AA37C939B0E0}"/>
              </a:ext>
            </a:extLst>
          </p:cNvPr>
          <p:cNvSpPr>
            <a:spLocks noGrp="1"/>
          </p:cNvSpPr>
          <p:nvPr>
            <p:ph type="dt" sz="half" idx="10"/>
          </p:nvPr>
        </p:nvSpPr>
        <p:spPr/>
        <p:txBody>
          <a:bodyPr/>
          <a:lstStyle/>
          <a:p>
            <a:fld id="{E1B5926D-74AD-44D8-B7CA-CADD7759F9F6}" type="datetimeFigureOut">
              <a:rPr lang="es-AR" smtClean="0"/>
              <a:t>13/3/2026</a:t>
            </a:fld>
            <a:endParaRPr lang="es-AR"/>
          </a:p>
        </p:txBody>
      </p:sp>
      <p:sp>
        <p:nvSpPr>
          <p:cNvPr id="5" name="Marcador de pie de página 4">
            <a:extLst>
              <a:ext uri="{FF2B5EF4-FFF2-40B4-BE49-F238E27FC236}">
                <a16:creationId xmlns:a16="http://schemas.microsoft.com/office/drawing/2014/main" id="{8C1A0726-56B3-C9C3-D0C5-6047B8B40423}"/>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B5690AFB-95CE-DED7-8C9A-3AD765096EE9}"/>
              </a:ext>
            </a:extLst>
          </p:cNvPr>
          <p:cNvSpPr>
            <a:spLocks noGrp="1"/>
          </p:cNvSpPr>
          <p:nvPr>
            <p:ph type="sldNum" sz="quarter" idx="12"/>
          </p:nvPr>
        </p:nvSpPr>
        <p:spPr/>
        <p:txBody>
          <a:bodyPr/>
          <a:lstStyle/>
          <a:p>
            <a:fld id="{66FFEC36-11DD-43C7-A2CD-7588F2B93FE1}" type="slidenum">
              <a:rPr lang="es-AR" smtClean="0"/>
              <a:t>‹Nº›</a:t>
            </a:fld>
            <a:endParaRPr lang="es-AR"/>
          </a:p>
        </p:txBody>
      </p:sp>
    </p:spTree>
    <p:extLst>
      <p:ext uri="{BB962C8B-B14F-4D97-AF65-F5344CB8AC3E}">
        <p14:creationId xmlns:p14="http://schemas.microsoft.com/office/powerpoint/2010/main" val="3267914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77671B-3B7D-7825-5CF2-7F48F5DBC784}"/>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AFB60D10-81F7-4049-28D2-508644516B7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277A6747-ECF3-9C35-38FA-0D8B870332A2}"/>
              </a:ext>
            </a:extLst>
          </p:cNvPr>
          <p:cNvSpPr>
            <a:spLocks noGrp="1"/>
          </p:cNvSpPr>
          <p:nvPr>
            <p:ph type="dt" sz="half" idx="10"/>
          </p:nvPr>
        </p:nvSpPr>
        <p:spPr/>
        <p:txBody>
          <a:bodyPr/>
          <a:lstStyle/>
          <a:p>
            <a:fld id="{E1B5926D-74AD-44D8-B7CA-CADD7759F9F6}" type="datetimeFigureOut">
              <a:rPr lang="es-AR" smtClean="0"/>
              <a:t>13/3/2026</a:t>
            </a:fld>
            <a:endParaRPr lang="es-AR"/>
          </a:p>
        </p:txBody>
      </p:sp>
      <p:sp>
        <p:nvSpPr>
          <p:cNvPr id="5" name="Marcador de pie de página 4">
            <a:extLst>
              <a:ext uri="{FF2B5EF4-FFF2-40B4-BE49-F238E27FC236}">
                <a16:creationId xmlns:a16="http://schemas.microsoft.com/office/drawing/2014/main" id="{B533BECC-6612-6AA7-964D-D39355A5CD4E}"/>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20DB6C86-91DC-5255-23A5-DBF4BC9F20E4}"/>
              </a:ext>
            </a:extLst>
          </p:cNvPr>
          <p:cNvSpPr>
            <a:spLocks noGrp="1"/>
          </p:cNvSpPr>
          <p:nvPr>
            <p:ph type="sldNum" sz="quarter" idx="12"/>
          </p:nvPr>
        </p:nvSpPr>
        <p:spPr/>
        <p:txBody>
          <a:bodyPr/>
          <a:lstStyle/>
          <a:p>
            <a:fld id="{66FFEC36-11DD-43C7-A2CD-7588F2B93FE1}" type="slidenum">
              <a:rPr lang="es-AR" smtClean="0"/>
              <a:t>‹Nº›</a:t>
            </a:fld>
            <a:endParaRPr lang="es-AR"/>
          </a:p>
        </p:txBody>
      </p:sp>
    </p:spTree>
    <p:extLst>
      <p:ext uri="{BB962C8B-B14F-4D97-AF65-F5344CB8AC3E}">
        <p14:creationId xmlns:p14="http://schemas.microsoft.com/office/powerpoint/2010/main" val="1424191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6BDB7B-0569-D597-4EB4-3D0C9611A7B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B735D6BF-8C3F-BDFB-11E6-E845B75C3A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2440544-19A3-B145-00C5-1713B90FC4BE}"/>
              </a:ext>
            </a:extLst>
          </p:cNvPr>
          <p:cNvSpPr>
            <a:spLocks noGrp="1"/>
          </p:cNvSpPr>
          <p:nvPr>
            <p:ph type="dt" sz="half" idx="10"/>
          </p:nvPr>
        </p:nvSpPr>
        <p:spPr/>
        <p:txBody>
          <a:bodyPr/>
          <a:lstStyle/>
          <a:p>
            <a:fld id="{E1B5926D-74AD-44D8-B7CA-CADD7759F9F6}" type="datetimeFigureOut">
              <a:rPr lang="es-AR" smtClean="0"/>
              <a:t>13/3/2026</a:t>
            </a:fld>
            <a:endParaRPr lang="es-AR"/>
          </a:p>
        </p:txBody>
      </p:sp>
      <p:sp>
        <p:nvSpPr>
          <p:cNvPr id="5" name="Marcador de pie de página 4">
            <a:extLst>
              <a:ext uri="{FF2B5EF4-FFF2-40B4-BE49-F238E27FC236}">
                <a16:creationId xmlns:a16="http://schemas.microsoft.com/office/drawing/2014/main" id="{FC7967FE-AFA6-F852-F596-C94B38831E16}"/>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2D1C344-F011-33D9-3FE6-AD92DDCFCBB3}"/>
              </a:ext>
            </a:extLst>
          </p:cNvPr>
          <p:cNvSpPr>
            <a:spLocks noGrp="1"/>
          </p:cNvSpPr>
          <p:nvPr>
            <p:ph type="sldNum" sz="quarter" idx="12"/>
          </p:nvPr>
        </p:nvSpPr>
        <p:spPr/>
        <p:txBody>
          <a:bodyPr/>
          <a:lstStyle/>
          <a:p>
            <a:fld id="{66FFEC36-11DD-43C7-A2CD-7588F2B93FE1}" type="slidenum">
              <a:rPr lang="es-AR" smtClean="0"/>
              <a:t>‹Nº›</a:t>
            </a:fld>
            <a:endParaRPr lang="es-AR"/>
          </a:p>
        </p:txBody>
      </p:sp>
    </p:spTree>
    <p:extLst>
      <p:ext uri="{BB962C8B-B14F-4D97-AF65-F5344CB8AC3E}">
        <p14:creationId xmlns:p14="http://schemas.microsoft.com/office/powerpoint/2010/main" val="402798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C411B4-CC68-A354-755B-77BF9D81580B}"/>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9D8A712B-1618-80D3-03F4-E2B002D6A20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1195EF91-EC2D-FB17-39B1-59BBE8E8D2D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09D529CB-833C-3684-5377-422C4B367749}"/>
              </a:ext>
            </a:extLst>
          </p:cNvPr>
          <p:cNvSpPr>
            <a:spLocks noGrp="1"/>
          </p:cNvSpPr>
          <p:nvPr>
            <p:ph type="dt" sz="half" idx="10"/>
          </p:nvPr>
        </p:nvSpPr>
        <p:spPr/>
        <p:txBody>
          <a:bodyPr/>
          <a:lstStyle/>
          <a:p>
            <a:fld id="{E1B5926D-74AD-44D8-B7CA-CADD7759F9F6}" type="datetimeFigureOut">
              <a:rPr lang="es-AR" smtClean="0"/>
              <a:t>13/3/2026</a:t>
            </a:fld>
            <a:endParaRPr lang="es-AR"/>
          </a:p>
        </p:txBody>
      </p:sp>
      <p:sp>
        <p:nvSpPr>
          <p:cNvPr id="6" name="Marcador de pie de página 5">
            <a:extLst>
              <a:ext uri="{FF2B5EF4-FFF2-40B4-BE49-F238E27FC236}">
                <a16:creationId xmlns:a16="http://schemas.microsoft.com/office/drawing/2014/main" id="{0FBD1322-C908-F955-36F0-A147DC75A782}"/>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709338C7-E3E5-B196-1C37-CE8159400FA0}"/>
              </a:ext>
            </a:extLst>
          </p:cNvPr>
          <p:cNvSpPr>
            <a:spLocks noGrp="1"/>
          </p:cNvSpPr>
          <p:nvPr>
            <p:ph type="sldNum" sz="quarter" idx="12"/>
          </p:nvPr>
        </p:nvSpPr>
        <p:spPr/>
        <p:txBody>
          <a:bodyPr/>
          <a:lstStyle/>
          <a:p>
            <a:fld id="{66FFEC36-11DD-43C7-A2CD-7588F2B93FE1}" type="slidenum">
              <a:rPr lang="es-AR" smtClean="0"/>
              <a:t>‹Nº›</a:t>
            </a:fld>
            <a:endParaRPr lang="es-AR"/>
          </a:p>
        </p:txBody>
      </p:sp>
    </p:spTree>
    <p:extLst>
      <p:ext uri="{BB962C8B-B14F-4D97-AF65-F5344CB8AC3E}">
        <p14:creationId xmlns:p14="http://schemas.microsoft.com/office/powerpoint/2010/main" val="3545631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8522FA-C768-AFDD-5540-E44146C714F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63FA8196-DF31-7A88-F76B-E7E59FAA86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A0D3C41-CBF2-6C77-3E01-498EA05E5DA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FF324DC5-A67A-3AFC-AF1B-9B6A906119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2D6FF45-89D6-493C-2034-E4C93FF61EA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17CA5870-5DE9-69DF-02F1-B5F8A61766EA}"/>
              </a:ext>
            </a:extLst>
          </p:cNvPr>
          <p:cNvSpPr>
            <a:spLocks noGrp="1"/>
          </p:cNvSpPr>
          <p:nvPr>
            <p:ph type="dt" sz="half" idx="10"/>
          </p:nvPr>
        </p:nvSpPr>
        <p:spPr/>
        <p:txBody>
          <a:bodyPr/>
          <a:lstStyle/>
          <a:p>
            <a:fld id="{E1B5926D-74AD-44D8-B7CA-CADD7759F9F6}" type="datetimeFigureOut">
              <a:rPr lang="es-AR" smtClean="0"/>
              <a:t>13/3/2026</a:t>
            </a:fld>
            <a:endParaRPr lang="es-AR"/>
          </a:p>
        </p:txBody>
      </p:sp>
      <p:sp>
        <p:nvSpPr>
          <p:cNvPr id="8" name="Marcador de pie de página 7">
            <a:extLst>
              <a:ext uri="{FF2B5EF4-FFF2-40B4-BE49-F238E27FC236}">
                <a16:creationId xmlns:a16="http://schemas.microsoft.com/office/drawing/2014/main" id="{7BC1C68A-7F7C-DEFA-88AD-8D702964AF00}"/>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FDAF3357-B0E1-E366-074A-D4AECA1E028F}"/>
              </a:ext>
            </a:extLst>
          </p:cNvPr>
          <p:cNvSpPr>
            <a:spLocks noGrp="1"/>
          </p:cNvSpPr>
          <p:nvPr>
            <p:ph type="sldNum" sz="quarter" idx="12"/>
          </p:nvPr>
        </p:nvSpPr>
        <p:spPr/>
        <p:txBody>
          <a:bodyPr/>
          <a:lstStyle/>
          <a:p>
            <a:fld id="{66FFEC36-11DD-43C7-A2CD-7588F2B93FE1}" type="slidenum">
              <a:rPr lang="es-AR" smtClean="0"/>
              <a:t>‹Nº›</a:t>
            </a:fld>
            <a:endParaRPr lang="es-AR"/>
          </a:p>
        </p:txBody>
      </p:sp>
    </p:spTree>
    <p:extLst>
      <p:ext uri="{BB962C8B-B14F-4D97-AF65-F5344CB8AC3E}">
        <p14:creationId xmlns:p14="http://schemas.microsoft.com/office/powerpoint/2010/main" val="1796289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079F5B-8DA1-DC6A-4A8D-35942306F222}"/>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E6B3F73F-0657-8B25-ED97-CE3AE2EA0FF1}"/>
              </a:ext>
            </a:extLst>
          </p:cNvPr>
          <p:cNvSpPr>
            <a:spLocks noGrp="1"/>
          </p:cNvSpPr>
          <p:nvPr>
            <p:ph type="dt" sz="half" idx="10"/>
          </p:nvPr>
        </p:nvSpPr>
        <p:spPr/>
        <p:txBody>
          <a:bodyPr/>
          <a:lstStyle/>
          <a:p>
            <a:fld id="{E1B5926D-74AD-44D8-B7CA-CADD7759F9F6}" type="datetimeFigureOut">
              <a:rPr lang="es-AR" smtClean="0"/>
              <a:t>13/3/2026</a:t>
            </a:fld>
            <a:endParaRPr lang="es-AR"/>
          </a:p>
        </p:txBody>
      </p:sp>
      <p:sp>
        <p:nvSpPr>
          <p:cNvPr id="4" name="Marcador de pie de página 3">
            <a:extLst>
              <a:ext uri="{FF2B5EF4-FFF2-40B4-BE49-F238E27FC236}">
                <a16:creationId xmlns:a16="http://schemas.microsoft.com/office/drawing/2014/main" id="{78489B6B-9929-7BC7-3F13-77DC4A4B0149}"/>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E381DDF5-DF38-A647-7ACA-0D91B11ACDAF}"/>
              </a:ext>
            </a:extLst>
          </p:cNvPr>
          <p:cNvSpPr>
            <a:spLocks noGrp="1"/>
          </p:cNvSpPr>
          <p:nvPr>
            <p:ph type="sldNum" sz="quarter" idx="12"/>
          </p:nvPr>
        </p:nvSpPr>
        <p:spPr/>
        <p:txBody>
          <a:bodyPr/>
          <a:lstStyle/>
          <a:p>
            <a:fld id="{66FFEC36-11DD-43C7-A2CD-7588F2B93FE1}" type="slidenum">
              <a:rPr lang="es-AR" smtClean="0"/>
              <a:t>‹Nº›</a:t>
            </a:fld>
            <a:endParaRPr lang="es-AR"/>
          </a:p>
        </p:txBody>
      </p:sp>
    </p:spTree>
    <p:extLst>
      <p:ext uri="{BB962C8B-B14F-4D97-AF65-F5344CB8AC3E}">
        <p14:creationId xmlns:p14="http://schemas.microsoft.com/office/powerpoint/2010/main" val="2962078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7D67AEC-4F23-A79A-BD80-3272CF63737C}"/>
              </a:ext>
            </a:extLst>
          </p:cNvPr>
          <p:cNvSpPr>
            <a:spLocks noGrp="1"/>
          </p:cNvSpPr>
          <p:nvPr>
            <p:ph type="dt" sz="half" idx="10"/>
          </p:nvPr>
        </p:nvSpPr>
        <p:spPr/>
        <p:txBody>
          <a:bodyPr/>
          <a:lstStyle/>
          <a:p>
            <a:fld id="{E1B5926D-74AD-44D8-B7CA-CADD7759F9F6}" type="datetimeFigureOut">
              <a:rPr lang="es-AR" smtClean="0"/>
              <a:t>13/3/2026</a:t>
            </a:fld>
            <a:endParaRPr lang="es-AR"/>
          </a:p>
        </p:txBody>
      </p:sp>
      <p:sp>
        <p:nvSpPr>
          <p:cNvPr id="3" name="Marcador de pie de página 2">
            <a:extLst>
              <a:ext uri="{FF2B5EF4-FFF2-40B4-BE49-F238E27FC236}">
                <a16:creationId xmlns:a16="http://schemas.microsoft.com/office/drawing/2014/main" id="{6DD6F0F3-9FFB-4DC7-FF92-2E38AD9245FF}"/>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EECDBA9B-6959-6698-B199-3EF61EFDCFA1}"/>
              </a:ext>
            </a:extLst>
          </p:cNvPr>
          <p:cNvSpPr>
            <a:spLocks noGrp="1"/>
          </p:cNvSpPr>
          <p:nvPr>
            <p:ph type="sldNum" sz="quarter" idx="12"/>
          </p:nvPr>
        </p:nvSpPr>
        <p:spPr/>
        <p:txBody>
          <a:bodyPr/>
          <a:lstStyle/>
          <a:p>
            <a:fld id="{66FFEC36-11DD-43C7-A2CD-7588F2B93FE1}" type="slidenum">
              <a:rPr lang="es-AR" smtClean="0"/>
              <a:t>‹Nº›</a:t>
            </a:fld>
            <a:endParaRPr lang="es-AR"/>
          </a:p>
        </p:txBody>
      </p:sp>
    </p:spTree>
    <p:extLst>
      <p:ext uri="{BB962C8B-B14F-4D97-AF65-F5344CB8AC3E}">
        <p14:creationId xmlns:p14="http://schemas.microsoft.com/office/powerpoint/2010/main" val="377684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BB5B38-1679-49C6-DD67-402F95BD570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0D73FBD7-AE63-D3D2-DF5B-68E91518DB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EF30C8D2-B97B-F38E-D559-5C7CB21CF4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840555C-8566-E0E6-7935-6A216C578A24}"/>
              </a:ext>
            </a:extLst>
          </p:cNvPr>
          <p:cNvSpPr>
            <a:spLocks noGrp="1"/>
          </p:cNvSpPr>
          <p:nvPr>
            <p:ph type="dt" sz="half" idx="10"/>
          </p:nvPr>
        </p:nvSpPr>
        <p:spPr/>
        <p:txBody>
          <a:bodyPr/>
          <a:lstStyle/>
          <a:p>
            <a:fld id="{E1B5926D-74AD-44D8-B7CA-CADD7759F9F6}" type="datetimeFigureOut">
              <a:rPr lang="es-AR" smtClean="0"/>
              <a:t>13/3/2026</a:t>
            </a:fld>
            <a:endParaRPr lang="es-AR"/>
          </a:p>
        </p:txBody>
      </p:sp>
      <p:sp>
        <p:nvSpPr>
          <p:cNvPr id="6" name="Marcador de pie de página 5">
            <a:extLst>
              <a:ext uri="{FF2B5EF4-FFF2-40B4-BE49-F238E27FC236}">
                <a16:creationId xmlns:a16="http://schemas.microsoft.com/office/drawing/2014/main" id="{A1BDE3E1-B44A-0CCE-CC80-FC5B56B61F50}"/>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38491432-72BB-2DD0-DC11-37D6D8595EE1}"/>
              </a:ext>
            </a:extLst>
          </p:cNvPr>
          <p:cNvSpPr>
            <a:spLocks noGrp="1"/>
          </p:cNvSpPr>
          <p:nvPr>
            <p:ph type="sldNum" sz="quarter" idx="12"/>
          </p:nvPr>
        </p:nvSpPr>
        <p:spPr/>
        <p:txBody>
          <a:bodyPr/>
          <a:lstStyle/>
          <a:p>
            <a:fld id="{66FFEC36-11DD-43C7-A2CD-7588F2B93FE1}" type="slidenum">
              <a:rPr lang="es-AR" smtClean="0"/>
              <a:t>‹Nº›</a:t>
            </a:fld>
            <a:endParaRPr lang="es-AR"/>
          </a:p>
        </p:txBody>
      </p:sp>
    </p:spTree>
    <p:extLst>
      <p:ext uri="{BB962C8B-B14F-4D97-AF65-F5344CB8AC3E}">
        <p14:creationId xmlns:p14="http://schemas.microsoft.com/office/powerpoint/2010/main" val="2091680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7C55E0-CC2C-EEDE-6CD0-4A8F053BD14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3FE5390A-86FC-678F-CD31-CFAB991921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454C4343-2395-E8E9-253A-5CDFD354DA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C740A44-A70E-089D-70D8-9BD3394026A4}"/>
              </a:ext>
            </a:extLst>
          </p:cNvPr>
          <p:cNvSpPr>
            <a:spLocks noGrp="1"/>
          </p:cNvSpPr>
          <p:nvPr>
            <p:ph type="dt" sz="half" idx="10"/>
          </p:nvPr>
        </p:nvSpPr>
        <p:spPr/>
        <p:txBody>
          <a:bodyPr/>
          <a:lstStyle/>
          <a:p>
            <a:fld id="{E1B5926D-74AD-44D8-B7CA-CADD7759F9F6}" type="datetimeFigureOut">
              <a:rPr lang="es-AR" smtClean="0"/>
              <a:t>13/3/2026</a:t>
            </a:fld>
            <a:endParaRPr lang="es-AR"/>
          </a:p>
        </p:txBody>
      </p:sp>
      <p:sp>
        <p:nvSpPr>
          <p:cNvPr id="6" name="Marcador de pie de página 5">
            <a:extLst>
              <a:ext uri="{FF2B5EF4-FFF2-40B4-BE49-F238E27FC236}">
                <a16:creationId xmlns:a16="http://schemas.microsoft.com/office/drawing/2014/main" id="{BC0D496D-65D6-656F-482C-A6F9DB6BE023}"/>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32751EE3-50EF-10AB-F71B-CA0CFCB5A611}"/>
              </a:ext>
            </a:extLst>
          </p:cNvPr>
          <p:cNvSpPr>
            <a:spLocks noGrp="1"/>
          </p:cNvSpPr>
          <p:nvPr>
            <p:ph type="sldNum" sz="quarter" idx="12"/>
          </p:nvPr>
        </p:nvSpPr>
        <p:spPr/>
        <p:txBody>
          <a:bodyPr/>
          <a:lstStyle/>
          <a:p>
            <a:fld id="{66FFEC36-11DD-43C7-A2CD-7588F2B93FE1}" type="slidenum">
              <a:rPr lang="es-AR" smtClean="0"/>
              <a:t>‹Nº›</a:t>
            </a:fld>
            <a:endParaRPr lang="es-AR"/>
          </a:p>
        </p:txBody>
      </p:sp>
    </p:spTree>
    <p:extLst>
      <p:ext uri="{BB962C8B-B14F-4D97-AF65-F5344CB8AC3E}">
        <p14:creationId xmlns:p14="http://schemas.microsoft.com/office/powerpoint/2010/main" val="944879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E62A89-6D8B-5AD0-6D42-8EF6A5D93B29}"/>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0F09F4EB-C87E-3BC0-065E-671EB82D818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1B7B1E4F-73E9-C807-185F-916477489062}"/>
              </a:ext>
            </a:extLst>
          </p:cNvPr>
          <p:cNvSpPr>
            <a:spLocks noGrp="1"/>
          </p:cNvSpPr>
          <p:nvPr>
            <p:ph type="dt" sz="half" idx="10"/>
          </p:nvPr>
        </p:nvSpPr>
        <p:spPr/>
        <p:txBody>
          <a:bodyPr/>
          <a:lstStyle/>
          <a:p>
            <a:fld id="{E1B5926D-74AD-44D8-B7CA-CADD7759F9F6}" type="datetimeFigureOut">
              <a:rPr lang="es-AR" smtClean="0"/>
              <a:t>13/3/2026</a:t>
            </a:fld>
            <a:endParaRPr lang="es-AR"/>
          </a:p>
        </p:txBody>
      </p:sp>
      <p:sp>
        <p:nvSpPr>
          <p:cNvPr id="5" name="Marcador de pie de página 4">
            <a:extLst>
              <a:ext uri="{FF2B5EF4-FFF2-40B4-BE49-F238E27FC236}">
                <a16:creationId xmlns:a16="http://schemas.microsoft.com/office/drawing/2014/main" id="{38CA783A-8134-C274-536D-83BF7D0938DC}"/>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02218399-513D-8D8A-24BD-B8643785CDE6}"/>
              </a:ext>
            </a:extLst>
          </p:cNvPr>
          <p:cNvSpPr>
            <a:spLocks noGrp="1"/>
          </p:cNvSpPr>
          <p:nvPr>
            <p:ph type="sldNum" sz="quarter" idx="12"/>
          </p:nvPr>
        </p:nvSpPr>
        <p:spPr/>
        <p:txBody>
          <a:bodyPr/>
          <a:lstStyle/>
          <a:p>
            <a:fld id="{66FFEC36-11DD-43C7-A2CD-7588F2B93FE1}" type="slidenum">
              <a:rPr lang="es-AR" smtClean="0"/>
              <a:t>‹Nº›</a:t>
            </a:fld>
            <a:endParaRPr lang="es-AR"/>
          </a:p>
        </p:txBody>
      </p:sp>
    </p:spTree>
    <p:extLst>
      <p:ext uri="{BB962C8B-B14F-4D97-AF65-F5344CB8AC3E}">
        <p14:creationId xmlns:p14="http://schemas.microsoft.com/office/powerpoint/2010/main" val="2252149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51A2A6E-A344-6717-4826-E505D901DCC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3B6709DB-7D7F-8C1A-4BA6-33235ECBB88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F170F6C-3E79-1489-4922-F730CA3E0AC2}"/>
              </a:ext>
            </a:extLst>
          </p:cNvPr>
          <p:cNvSpPr>
            <a:spLocks noGrp="1"/>
          </p:cNvSpPr>
          <p:nvPr>
            <p:ph type="dt" sz="half" idx="10"/>
          </p:nvPr>
        </p:nvSpPr>
        <p:spPr/>
        <p:txBody>
          <a:bodyPr/>
          <a:lstStyle/>
          <a:p>
            <a:fld id="{E1B5926D-74AD-44D8-B7CA-CADD7759F9F6}" type="datetimeFigureOut">
              <a:rPr lang="es-AR" smtClean="0"/>
              <a:t>13/3/2026</a:t>
            </a:fld>
            <a:endParaRPr lang="es-AR"/>
          </a:p>
        </p:txBody>
      </p:sp>
      <p:sp>
        <p:nvSpPr>
          <p:cNvPr id="5" name="Marcador de pie de página 4">
            <a:extLst>
              <a:ext uri="{FF2B5EF4-FFF2-40B4-BE49-F238E27FC236}">
                <a16:creationId xmlns:a16="http://schemas.microsoft.com/office/drawing/2014/main" id="{7925AAB7-E8DC-9BB7-AA12-6CE4FD9A0C8C}"/>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7F06C68-24E2-8089-37FE-FFD6DB34A10B}"/>
              </a:ext>
            </a:extLst>
          </p:cNvPr>
          <p:cNvSpPr>
            <a:spLocks noGrp="1"/>
          </p:cNvSpPr>
          <p:nvPr>
            <p:ph type="sldNum" sz="quarter" idx="12"/>
          </p:nvPr>
        </p:nvSpPr>
        <p:spPr/>
        <p:txBody>
          <a:bodyPr/>
          <a:lstStyle/>
          <a:p>
            <a:fld id="{66FFEC36-11DD-43C7-A2CD-7588F2B93FE1}" type="slidenum">
              <a:rPr lang="es-AR" smtClean="0"/>
              <a:t>‹Nº›</a:t>
            </a:fld>
            <a:endParaRPr lang="es-AR"/>
          </a:p>
        </p:txBody>
      </p:sp>
    </p:spTree>
    <p:extLst>
      <p:ext uri="{BB962C8B-B14F-4D97-AF65-F5344CB8AC3E}">
        <p14:creationId xmlns:p14="http://schemas.microsoft.com/office/powerpoint/2010/main" val="2545880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5D74143-3E6C-8C5F-51F4-EA06333E48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F69F3186-77B3-3FBD-065A-980F9E20F7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5BD0B70E-60C3-AACE-58B5-47A7DB76C3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B5926D-74AD-44D8-B7CA-CADD7759F9F6}" type="datetimeFigureOut">
              <a:rPr lang="es-AR" smtClean="0"/>
              <a:t>13/3/2026</a:t>
            </a:fld>
            <a:endParaRPr lang="es-AR"/>
          </a:p>
        </p:txBody>
      </p:sp>
      <p:sp>
        <p:nvSpPr>
          <p:cNvPr id="5" name="Marcador de pie de página 4">
            <a:extLst>
              <a:ext uri="{FF2B5EF4-FFF2-40B4-BE49-F238E27FC236}">
                <a16:creationId xmlns:a16="http://schemas.microsoft.com/office/drawing/2014/main" id="{6C75A8CC-F3BF-D0AB-34E6-31CCC22F53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34DCFAD1-C9BB-571B-152E-2B8C72D20E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FFEC36-11DD-43C7-A2CD-7588F2B93FE1}" type="slidenum">
              <a:rPr lang="es-AR" smtClean="0"/>
              <a:t>‹Nº›</a:t>
            </a:fld>
            <a:endParaRPr lang="es-AR"/>
          </a:p>
        </p:txBody>
      </p:sp>
    </p:spTree>
    <p:extLst>
      <p:ext uri="{BB962C8B-B14F-4D97-AF65-F5344CB8AC3E}">
        <p14:creationId xmlns:p14="http://schemas.microsoft.com/office/powerpoint/2010/main" val="12629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35CB168-3E7E-39FD-CFB1-EC1E5870DC87}"/>
              </a:ext>
            </a:extLst>
          </p:cNvPr>
          <p:cNvSpPr txBox="1"/>
          <p:nvPr/>
        </p:nvSpPr>
        <p:spPr>
          <a:xfrm>
            <a:off x="-2" y="0"/>
            <a:ext cx="4805917" cy="461665"/>
          </a:xfrm>
          <a:prstGeom prst="rect">
            <a:avLst/>
          </a:prstGeom>
          <a:noFill/>
        </p:spPr>
        <p:txBody>
          <a:bodyPr wrap="square" rtlCol="0">
            <a:spAutoFit/>
          </a:bodyPr>
          <a:lstStyle/>
          <a:p>
            <a:r>
              <a:rPr lang="es-AR" sz="2400" b="1" dirty="0">
                <a:solidFill>
                  <a:srgbClr val="002060"/>
                </a:solidFill>
                <a:latin typeface="Arial" panose="020B0604020202020204" pitchFamily="34" charset="0"/>
                <a:cs typeface="Arial" panose="020B0604020202020204" pitchFamily="34" charset="0"/>
              </a:rPr>
              <a:t>AI Dev Days Hackathon</a:t>
            </a:r>
          </a:p>
        </p:txBody>
      </p:sp>
      <p:sp>
        <p:nvSpPr>
          <p:cNvPr id="6" name="Rectángulo: esquinas redondeadas 5">
            <a:extLst>
              <a:ext uri="{FF2B5EF4-FFF2-40B4-BE49-F238E27FC236}">
                <a16:creationId xmlns:a16="http://schemas.microsoft.com/office/drawing/2014/main" id="{9AE4B44E-5DB4-151C-1813-5D923E8896B3}"/>
              </a:ext>
            </a:extLst>
          </p:cNvPr>
          <p:cNvSpPr/>
          <p:nvPr/>
        </p:nvSpPr>
        <p:spPr>
          <a:xfrm>
            <a:off x="3376246" y="1541584"/>
            <a:ext cx="5439507" cy="1887416"/>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3600" b="1" dirty="0">
                <a:solidFill>
                  <a:srgbClr val="002060"/>
                </a:solidFill>
                <a:latin typeface="Arial" panose="020B0604020202020204" pitchFamily="34" charset="0"/>
                <a:cs typeface="Arial" panose="020B0604020202020204" pitchFamily="34" charset="0"/>
              </a:rPr>
              <a:t>Customs AI Agent</a:t>
            </a:r>
          </a:p>
          <a:p>
            <a:pPr algn="ctr"/>
            <a:r>
              <a:rPr lang="es-AR" sz="2800" dirty="0">
                <a:solidFill>
                  <a:srgbClr val="002060"/>
                </a:solidFill>
              </a:rPr>
              <a:t>Smart HS Code Classifier</a:t>
            </a:r>
          </a:p>
          <a:p>
            <a:pPr algn="ctr"/>
            <a:endParaRPr lang="es-AR" dirty="0"/>
          </a:p>
          <a:p>
            <a:pPr algn="ctr"/>
            <a:endParaRPr lang="es-AR" dirty="0"/>
          </a:p>
          <a:p>
            <a:pPr algn="ctr"/>
            <a:endParaRPr lang="es-AR" dirty="0"/>
          </a:p>
        </p:txBody>
      </p:sp>
      <p:sp>
        <p:nvSpPr>
          <p:cNvPr id="8" name="Rectángulo: esquinas redondeadas 7">
            <a:extLst>
              <a:ext uri="{FF2B5EF4-FFF2-40B4-BE49-F238E27FC236}">
                <a16:creationId xmlns:a16="http://schemas.microsoft.com/office/drawing/2014/main" id="{DA6A8E11-B1D7-E981-FF50-27344795BA95}"/>
              </a:ext>
            </a:extLst>
          </p:cNvPr>
          <p:cNvSpPr/>
          <p:nvPr/>
        </p:nvSpPr>
        <p:spPr>
          <a:xfrm>
            <a:off x="3376246" y="3733800"/>
            <a:ext cx="5439507" cy="1887416"/>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2000" b="1" dirty="0">
                <a:solidFill>
                  <a:srgbClr val="002060"/>
                </a:solidFill>
                <a:latin typeface="Arial" panose="020B0604020202020204" pitchFamily="34" charset="0"/>
                <a:cs typeface="Arial" panose="020B0604020202020204" pitchFamily="34" charset="0"/>
              </a:rPr>
              <a:t>Fernando Pedernera</a:t>
            </a:r>
          </a:p>
          <a:p>
            <a:pPr algn="ctr"/>
            <a:r>
              <a:rPr lang="es-AR" sz="2000" dirty="0">
                <a:solidFill>
                  <a:srgbClr val="002060"/>
                </a:solidFill>
              </a:rPr>
              <a:t>International Trade Specialist</a:t>
            </a:r>
          </a:p>
          <a:p>
            <a:pPr algn="ctr"/>
            <a:r>
              <a:rPr lang="es-AR" sz="2000" dirty="0">
                <a:solidFill>
                  <a:srgbClr val="002060"/>
                </a:solidFill>
              </a:rPr>
              <a:t>Innovation and digital transformation</a:t>
            </a:r>
          </a:p>
          <a:p>
            <a:pPr algn="ctr"/>
            <a:endParaRPr lang="es-AR" dirty="0"/>
          </a:p>
          <a:p>
            <a:pPr algn="ctr"/>
            <a:endParaRPr lang="es-AR" dirty="0"/>
          </a:p>
          <a:p>
            <a:pPr algn="ctr"/>
            <a:endParaRPr lang="es-AR" dirty="0"/>
          </a:p>
        </p:txBody>
      </p:sp>
      <p:sp>
        <p:nvSpPr>
          <p:cNvPr id="10" name="Rectángulo: esquinas redondeadas 9">
            <a:extLst>
              <a:ext uri="{FF2B5EF4-FFF2-40B4-BE49-F238E27FC236}">
                <a16:creationId xmlns:a16="http://schemas.microsoft.com/office/drawing/2014/main" id="{E51F338A-8392-C346-0E20-9E371F3EF3AE}"/>
              </a:ext>
            </a:extLst>
          </p:cNvPr>
          <p:cNvSpPr/>
          <p:nvPr/>
        </p:nvSpPr>
        <p:spPr>
          <a:xfrm>
            <a:off x="3217982" y="5316416"/>
            <a:ext cx="5756033" cy="1172310"/>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2060"/>
                </a:solidFill>
              </a:rPr>
              <a:t>“HS classification is a critical but difficult task. It demands expertise and precision, and mistakes can be costly.”</a:t>
            </a:r>
          </a:p>
        </p:txBody>
      </p:sp>
    </p:spTree>
    <p:extLst>
      <p:ext uri="{BB962C8B-B14F-4D97-AF65-F5344CB8AC3E}">
        <p14:creationId xmlns:p14="http://schemas.microsoft.com/office/powerpoint/2010/main" val="3603031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5000"/>
            <a:lum/>
          </a:blip>
          <a:srcRect/>
          <a:stretch>
            <a:fillRect t="-9000" b="-9000"/>
          </a:stretch>
        </a:blipFill>
        <a:effectLst/>
      </p:bgPr>
    </p:bg>
    <p:spTree>
      <p:nvGrpSpPr>
        <p:cNvPr id="1" name="">
          <a:extLst>
            <a:ext uri="{FF2B5EF4-FFF2-40B4-BE49-F238E27FC236}">
              <a16:creationId xmlns:a16="http://schemas.microsoft.com/office/drawing/2014/main" id="{890A07C1-555D-9A12-7F35-6290BA6FA63F}"/>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E1332E49-1DAE-4E17-006B-6E50384CE916}"/>
              </a:ext>
            </a:extLst>
          </p:cNvPr>
          <p:cNvSpPr/>
          <p:nvPr/>
        </p:nvSpPr>
        <p:spPr>
          <a:xfrm>
            <a:off x="926121" y="838201"/>
            <a:ext cx="5756033" cy="3106615"/>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s-AR" dirty="0"/>
          </a:p>
          <a:p>
            <a:r>
              <a:rPr lang="en-US" sz="3600" dirty="0">
                <a:solidFill>
                  <a:srgbClr val="002060"/>
                </a:solidFill>
              </a:rPr>
              <a:t>The Problem</a:t>
            </a:r>
          </a:p>
          <a:p>
            <a:pPr marL="285750" indent="-285750">
              <a:buFont typeface="Arial" panose="020B0604020202020204" pitchFamily="34" charset="0"/>
              <a:buChar char="•"/>
            </a:pPr>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Classifying goods under NCM/HS codes is complex</a:t>
            </a:r>
          </a:p>
          <a:p>
            <a:pPr marL="285750" indent="-285750">
              <a:buFont typeface="Arial" panose="020B0604020202020204" pitchFamily="34" charset="0"/>
              <a:buChar char="•"/>
            </a:pPr>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Requires deep regulatory knowledge and manual interpretation</a:t>
            </a:r>
          </a:p>
          <a:p>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Errors can lead to delays, fines, and compliance risks</a:t>
            </a:r>
            <a:endParaRPr lang="es-AR" sz="2000" dirty="0">
              <a:solidFill>
                <a:srgbClr val="002060"/>
              </a:solidFill>
            </a:endParaRPr>
          </a:p>
          <a:p>
            <a:pPr marL="285750" indent="-285750" algn="ctr">
              <a:buFont typeface="Arial" panose="020B0604020202020204" pitchFamily="34" charset="0"/>
              <a:buChar char="•"/>
            </a:pPr>
            <a:endParaRPr lang="en-US" dirty="0">
              <a:solidFill>
                <a:srgbClr val="002060"/>
              </a:solidFill>
            </a:endParaRPr>
          </a:p>
        </p:txBody>
      </p:sp>
      <p:sp>
        <p:nvSpPr>
          <p:cNvPr id="6" name="Rectángulo: esquinas redondeadas 5">
            <a:extLst>
              <a:ext uri="{FF2B5EF4-FFF2-40B4-BE49-F238E27FC236}">
                <a16:creationId xmlns:a16="http://schemas.microsoft.com/office/drawing/2014/main" id="{F22AFF99-BF7B-6934-7F3A-9219D1FC35AF}"/>
              </a:ext>
            </a:extLst>
          </p:cNvPr>
          <p:cNvSpPr/>
          <p:nvPr/>
        </p:nvSpPr>
        <p:spPr>
          <a:xfrm>
            <a:off x="926121" y="4437182"/>
            <a:ext cx="5756033" cy="1172310"/>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2060"/>
                </a:solidFill>
              </a:rPr>
              <a:t>“HS classification is a critical but difficult task. It demands expertise and precision, and mistakes can be costly.”</a:t>
            </a:r>
          </a:p>
        </p:txBody>
      </p:sp>
      <p:pic>
        <p:nvPicPr>
          <p:cNvPr id="10" name="Imagen 9">
            <a:extLst>
              <a:ext uri="{FF2B5EF4-FFF2-40B4-BE49-F238E27FC236}">
                <a16:creationId xmlns:a16="http://schemas.microsoft.com/office/drawing/2014/main" id="{CEA4FC3D-1367-16F7-0CF8-6D3C09CE85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8158" y="0"/>
            <a:ext cx="3827721" cy="6858000"/>
          </a:xfrm>
          <a:prstGeom prst="round2DiagRect">
            <a:avLst>
              <a:gd name="adj1" fmla="val 29224"/>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259225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5000"/>
            <a:lum/>
          </a:blip>
          <a:srcRect/>
          <a:stretch>
            <a:fillRect t="-9000" b="-9000"/>
          </a:stretch>
        </a:blipFill>
        <a:effectLst/>
      </p:bgPr>
    </p:bg>
    <p:spTree>
      <p:nvGrpSpPr>
        <p:cNvPr id="1" name="">
          <a:extLst>
            <a:ext uri="{FF2B5EF4-FFF2-40B4-BE49-F238E27FC236}">
              <a16:creationId xmlns:a16="http://schemas.microsoft.com/office/drawing/2014/main" id="{1E7EE6D3-DBBF-DF1B-3922-D5B47B2B6F32}"/>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D1201FC0-F87E-B043-E2CA-1D2384FC83D6}"/>
              </a:ext>
            </a:extLst>
          </p:cNvPr>
          <p:cNvSpPr/>
          <p:nvPr/>
        </p:nvSpPr>
        <p:spPr>
          <a:xfrm>
            <a:off x="926121" y="838201"/>
            <a:ext cx="5756033" cy="3106615"/>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s-AR" dirty="0"/>
          </a:p>
          <a:p>
            <a:r>
              <a:rPr lang="en-US" sz="3600" dirty="0">
                <a:solidFill>
                  <a:srgbClr val="002060"/>
                </a:solidFill>
              </a:rPr>
              <a:t>Our Solution</a:t>
            </a:r>
          </a:p>
          <a:p>
            <a:pPr marL="285750" indent="-285750">
              <a:buFont typeface="Arial" panose="020B0604020202020204" pitchFamily="34" charset="0"/>
              <a:buChar char="•"/>
            </a:pPr>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AI Agent applies GRI and regulatory notes</a:t>
            </a:r>
          </a:p>
          <a:p>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Retrieves context and generates a technical ruling</a:t>
            </a:r>
          </a:p>
          <a:p>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Provides classification, justification, and official link</a:t>
            </a:r>
            <a:endParaRPr lang="en-US" dirty="0">
              <a:solidFill>
                <a:srgbClr val="002060"/>
              </a:solidFill>
            </a:endParaRPr>
          </a:p>
        </p:txBody>
      </p:sp>
      <p:sp>
        <p:nvSpPr>
          <p:cNvPr id="3" name="Rectángulo: esquinas redondeadas 2">
            <a:extLst>
              <a:ext uri="{FF2B5EF4-FFF2-40B4-BE49-F238E27FC236}">
                <a16:creationId xmlns:a16="http://schemas.microsoft.com/office/drawing/2014/main" id="{D1A5CF9E-A90F-ECF5-07AE-69D46509DF40}"/>
              </a:ext>
            </a:extLst>
          </p:cNvPr>
          <p:cNvSpPr/>
          <p:nvPr/>
        </p:nvSpPr>
        <p:spPr>
          <a:xfrm>
            <a:off x="926121" y="4437182"/>
            <a:ext cx="5756033" cy="1172310"/>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2060"/>
                </a:solidFill>
              </a:rPr>
              <a:t>“Our agent combines retrieval and reasoning to deliver a clear, explainable classification — not just a code, but a rationale.”</a:t>
            </a:r>
          </a:p>
        </p:txBody>
      </p:sp>
      <p:pic>
        <p:nvPicPr>
          <p:cNvPr id="5" name="Imagen 4">
            <a:extLst>
              <a:ext uri="{FF2B5EF4-FFF2-40B4-BE49-F238E27FC236}">
                <a16:creationId xmlns:a16="http://schemas.microsoft.com/office/drawing/2014/main" id="{B91E6445-7166-DB82-6565-EB0A696AB6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5043" y="0"/>
            <a:ext cx="3830836" cy="6858000"/>
          </a:xfrm>
          <a:prstGeom prst="round2DiagRect">
            <a:avLst>
              <a:gd name="adj1" fmla="val 30171"/>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210735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5000"/>
            <a:lum/>
          </a:blip>
          <a:srcRect/>
          <a:stretch>
            <a:fillRect t="-9000" b="-9000"/>
          </a:stretch>
        </a:blipFill>
        <a:effectLst/>
      </p:bgPr>
    </p:bg>
    <p:spTree>
      <p:nvGrpSpPr>
        <p:cNvPr id="1" name="">
          <a:extLst>
            <a:ext uri="{FF2B5EF4-FFF2-40B4-BE49-F238E27FC236}">
              <a16:creationId xmlns:a16="http://schemas.microsoft.com/office/drawing/2014/main" id="{A2786540-8435-CDEC-4F99-85EDD79E380C}"/>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7D660349-F5BF-7984-A574-93EC64FF5C81}"/>
              </a:ext>
            </a:extLst>
          </p:cNvPr>
          <p:cNvSpPr/>
          <p:nvPr/>
        </p:nvSpPr>
        <p:spPr>
          <a:xfrm>
            <a:off x="926121" y="838201"/>
            <a:ext cx="5756033" cy="3106615"/>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s-AR" dirty="0"/>
          </a:p>
          <a:p>
            <a:r>
              <a:rPr lang="es-AR" sz="3600" dirty="0">
                <a:solidFill>
                  <a:srgbClr val="002060"/>
                </a:solidFill>
              </a:rPr>
              <a:t>Architecture</a:t>
            </a:r>
          </a:p>
          <a:p>
            <a:endParaRPr lang="en-US" sz="2000" dirty="0">
              <a:solidFill>
                <a:srgbClr val="002060"/>
              </a:solidFill>
            </a:endParaRPr>
          </a:p>
          <a:p>
            <a:pPr marL="285750" indent="-285750">
              <a:buFont typeface="Arial" panose="020B0604020202020204" pitchFamily="34" charset="0"/>
              <a:buChar char="•"/>
            </a:pPr>
            <a:r>
              <a:rPr lang="es-AR" sz="2000" dirty="0">
                <a:solidFill>
                  <a:srgbClr val="002060"/>
                </a:solidFill>
              </a:rPr>
              <a:t>Streamlit UI → GitHub Repository → Azure Service.</a:t>
            </a:r>
            <a:endParaRPr lang="en-US" sz="2000" dirty="0">
              <a:solidFill>
                <a:srgbClr val="002060"/>
              </a:solidFill>
            </a:endParaRPr>
          </a:p>
          <a:p>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Uses Azure OpenAI (Embeddings + Chat).</a:t>
            </a:r>
          </a:p>
          <a:p>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Integrated with Azure Foundry, MCP, and GitHub Copilot.</a:t>
            </a:r>
            <a:endParaRPr lang="en-US" dirty="0">
              <a:solidFill>
                <a:srgbClr val="002060"/>
              </a:solidFill>
            </a:endParaRPr>
          </a:p>
        </p:txBody>
      </p:sp>
      <p:sp>
        <p:nvSpPr>
          <p:cNvPr id="3" name="Rectángulo: esquinas redondeadas 2">
            <a:extLst>
              <a:ext uri="{FF2B5EF4-FFF2-40B4-BE49-F238E27FC236}">
                <a16:creationId xmlns:a16="http://schemas.microsoft.com/office/drawing/2014/main" id="{B95B0118-B9E6-5D33-F7EB-03B0FD0DB0FC}"/>
              </a:ext>
            </a:extLst>
          </p:cNvPr>
          <p:cNvSpPr/>
          <p:nvPr/>
        </p:nvSpPr>
        <p:spPr>
          <a:xfrm>
            <a:off x="926121" y="4437182"/>
            <a:ext cx="5756033" cy="1172310"/>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2060"/>
                </a:solidFill>
              </a:rPr>
              <a:t>“This architecture shows how we use Microsoft’s AI stack: OpenAI for reasoning, Foundry for deployment, and Copilot for development.”</a:t>
            </a:r>
          </a:p>
        </p:txBody>
      </p:sp>
      <p:pic>
        <p:nvPicPr>
          <p:cNvPr id="5" name="Imagen 4">
            <a:extLst>
              <a:ext uri="{FF2B5EF4-FFF2-40B4-BE49-F238E27FC236}">
                <a16:creationId xmlns:a16="http://schemas.microsoft.com/office/drawing/2014/main" id="{0D533A14-3DC5-9F8B-E0D0-6A82253846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5043" y="0"/>
            <a:ext cx="3830836" cy="6858000"/>
          </a:xfrm>
          <a:prstGeom prst="round2DiagRect">
            <a:avLst>
              <a:gd name="adj1" fmla="val 29543"/>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477376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5000"/>
            <a:lum/>
          </a:blip>
          <a:srcRect/>
          <a:stretch>
            <a:fillRect t="-9000" b="-9000"/>
          </a:stretch>
        </a:blipFill>
        <a:effectLst/>
      </p:bgPr>
    </p:bg>
    <p:spTree>
      <p:nvGrpSpPr>
        <p:cNvPr id="1" name="">
          <a:extLst>
            <a:ext uri="{FF2B5EF4-FFF2-40B4-BE49-F238E27FC236}">
              <a16:creationId xmlns:a16="http://schemas.microsoft.com/office/drawing/2014/main" id="{686B16B1-CD50-ADE5-DBA1-67E1691591CA}"/>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5618C4E4-FB1F-2417-0F88-396F072ED6BC}"/>
              </a:ext>
            </a:extLst>
          </p:cNvPr>
          <p:cNvSpPr/>
          <p:nvPr/>
        </p:nvSpPr>
        <p:spPr>
          <a:xfrm>
            <a:off x="926121" y="838201"/>
            <a:ext cx="5756033" cy="3106615"/>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s-AR" dirty="0"/>
          </a:p>
          <a:p>
            <a:r>
              <a:rPr lang="es-AR" sz="3600" dirty="0">
                <a:solidFill>
                  <a:srgbClr val="002060"/>
                </a:solidFill>
              </a:rPr>
              <a:t>Demo</a:t>
            </a:r>
          </a:p>
          <a:p>
            <a:endParaRPr lang="en-US" sz="2000" dirty="0">
              <a:solidFill>
                <a:srgbClr val="002060"/>
              </a:solidFill>
            </a:endParaRPr>
          </a:p>
          <a:p>
            <a:pPr marL="285750" indent="-285750">
              <a:buFont typeface="Arial" panose="020B0604020202020204" pitchFamily="34" charset="0"/>
              <a:buChar char="•"/>
            </a:pPr>
            <a:r>
              <a:rPr lang="es-AR" sz="2000" dirty="0">
                <a:solidFill>
                  <a:srgbClr val="002060"/>
                </a:solidFill>
              </a:rPr>
              <a:t>Input: “Whale”</a:t>
            </a:r>
          </a:p>
          <a:p>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Output: HS code + technical opinion</a:t>
            </a:r>
          </a:p>
          <a:p>
            <a:endParaRPr lang="en-US" sz="2000" dirty="0">
              <a:solidFill>
                <a:srgbClr val="002060"/>
              </a:solidFill>
            </a:endParaRPr>
          </a:p>
          <a:p>
            <a:pPr marL="285750" indent="-285750">
              <a:buFont typeface="Arial" panose="020B0604020202020204" pitchFamily="34" charset="0"/>
              <a:buChar char="•"/>
            </a:pPr>
            <a:r>
              <a:rPr lang="fr-FR" sz="2000" dirty="0">
                <a:solidFill>
                  <a:srgbClr val="002060"/>
                </a:solidFill>
              </a:rPr>
              <a:t>Justification: GRI + section/chapter notes</a:t>
            </a:r>
          </a:p>
          <a:p>
            <a:pPr marL="285750" indent="-285750">
              <a:buFont typeface="Arial" panose="020B0604020202020204" pitchFamily="34" charset="0"/>
              <a:buChar char="•"/>
            </a:pPr>
            <a:endParaRPr lang="fr-FR" sz="2000" dirty="0">
              <a:solidFill>
                <a:srgbClr val="002060"/>
              </a:solidFill>
            </a:endParaRPr>
          </a:p>
          <a:p>
            <a:pPr marL="285750" indent="-285750">
              <a:buFont typeface="Arial" panose="020B0604020202020204" pitchFamily="34" charset="0"/>
              <a:buChar char="•"/>
            </a:pPr>
            <a:r>
              <a:rPr lang="en-US" sz="2000" dirty="0">
                <a:solidFill>
                  <a:srgbClr val="002060"/>
                </a:solidFill>
              </a:rPr>
              <a:t>Link: Mercosur official nomenclature</a:t>
            </a:r>
          </a:p>
        </p:txBody>
      </p:sp>
      <p:sp>
        <p:nvSpPr>
          <p:cNvPr id="3" name="Rectángulo: esquinas redondeadas 2">
            <a:extLst>
              <a:ext uri="{FF2B5EF4-FFF2-40B4-BE49-F238E27FC236}">
                <a16:creationId xmlns:a16="http://schemas.microsoft.com/office/drawing/2014/main" id="{8EEE81FA-DFD1-5AA7-F5AA-479E3BD9971B}"/>
              </a:ext>
            </a:extLst>
          </p:cNvPr>
          <p:cNvSpPr/>
          <p:nvPr/>
        </p:nvSpPr>
        <p:spPr>
          <a:xfrm>
            <a:off x="926121" y="4437182"/>
            <a:ext cx="5756033" cy="1172310"/>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2060"/>
                </a:solidFill>
              </a:rPr>
              <a:t>“Let’s see it in action. We enter a product description, and the agent returns a full classification with reasoning and source.”</a:t>
            </a:r>
          </a:p>
        </p:txBody>
      </p:sp>
      <p:pic>
        <p:nvPicPr>
          <p:cNvPr id="5" name="Imagen 4">
            <a:extLst>
              <a:ext uri="{FF2B5EF4-FFF2-40B4-BE49-F238E27FC236}">
                <a16:creationId xmlns:a16="http://schemas.microsoft.com/office/drawing/2014/main" id="{7A62164A-3FB9-5533-067E-0DC9C6BD40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5043" y="0"/>
            <a:ext cx="3830836" cy="6858000"/>
          </a:xfrm>
          <a:prstGeom prst="round2DiagRect">
            <a:avLst>
              <a:gd name="adj1" fmla="val 29858"/>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253885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5000"/>
            <a:lum/>
          </a:blip>
          <a:srcRect/>
          <a:stretch>
            <a:fillRect t="-9000" b="-9000"/>
          </a:stretch>
        </a:blipFill>
        <a:effectLst/>
      </p:bgPr>
    </p:bg>
    <p:spTree>
      <p:nvGrpSpPr>
        <p:cNvPr id="1" name="">
          <a:extLst>
            <a:ext uri="{FF2B5EF4-FFF2-40B4-BE49-F238E27FC236}">
              <a16:creationId xmlns:a16="http://schemas.microsoft.com/office/drawing/2014/main" id="{E563F7EF-A095-7A2E-0B01-03A1CF61197C}"/>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D6611DC8-36BC-7578-4F92-8BF718DB0E77}"/>
              </a:ext>
            </a:extLst>
          </p:cNvPr>
          <p:cNvSpPr/>
          <p:nvPr/>
        </p:nvSpPr>
        <p:spPr>
          <a:xfrm>
            <a:off x="926121" y="838800"/>
            <a:ext cx="5756033" cy="3106615"/>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s-AR" dirty="0"/>
          </a:p>
          <a:p>
            <a:r>
              <a:rPr lang="es-AR" sz="3600" dirty="0">
                <a:solidFill>
                  <a:srgbClr val="002060"/>
                </a:solidFill>
              </a:rPr>
              <a:t>Impact &amp; Use Cases</a:t>
            </a:r>
          </a:p>
          <a:p>
            <a:endParaRPr lang="en-US" sz="2000" dirty="0">
              <a:solidFill>
                <a:srgbClr val="002060"/>
              </a:solidFill>
            </a:endParaRPr>
          </a:p>
          <a:p>
            <a:pPr marL="285750" indent="-285750">
              <a:buFont typeface="Arial" panose="020B0604020202020204" pitchFamily="34" charset="0"/>
              <a:buChar char="•"/>
            </a:pPr>
            <a:r>
              <a:rPr lang="es-AR" sz="2000" dirty="0">
                <a:solidFill>
                  <a:srgbClr val="002060"/>
                </a:solidFill>
              </a:rPr>
              <a:t>Customs authorities</a:t>
            </a:r>
          </a:p>
          <a:p>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Trade compliance teams</a:t>
            </a:r>
          </a:p>
          <a:p>
            <a:endParaRPr lang="en-US" sz="2000" dirty="0">
              <a:solidFill>
                <a:srgbClr val="002060"/>
              </a:solidFill>
            </a:endParaRPr>
          </a:p>
          <a:p>
            <a:pPr marL="285750" indent="-285750">
              <a:buFont typeface="Arial" panose="020B0604020202020204" pitchFamily="34" charset="0"/>
              <a:buChar char="•"/>
            </a:pPr>
            <a:r>
              <a:rPr lang="fr-FR" sz="2000" dirty="0">
                <a:solidFill>
                  <a:srgbClr val="002060"/>
                </a:solidFill>
              </a:rPr>
              <a:t>International logistics</a:t>
            </a:r>
          </a:p>
          <a:p>
            <a:endParaRPr lang="fr-FR" sz="2000" dirty="0">
              <a:solidFill>
                <a:srgbClr val="002060"/>
              </a:solidFill>
            </a:endParaRPr>
          </a:p>
          <a:p>
            <a:pPr marL="285750" indent="-285750">
              <a:buFont typeface="Arial" panose="020B0604020202020204" pitchFamily="34" charset="0"/>
              <a:buChar char="•"/>
            </a:pPr>
            <a:r>
              <a:rPr lang="fr-FR" dirty="0">
                <a:solidFill>
                  <a:srgbClr val="002060"/>
                </a:solidFill>
              </a:rPr>
              <a:t>Fast, transparent HS code application</a:t>
            </a:r>
            <a:endParaRPr lang="en-US" dirty="0">
              <a:solidFill>
                <a:srgbClr val="002060"/>
              </a:solidFill>
            </a:endParaRPr>
          </a:p>
        </p:txBody>
      </p:sp>
      <p:sp>
        <p:nvSpPr>
          <p:cNvPr id="3" name="Rectángulo: esquinas redondeadas 2">
            <a:extLst>
              <a:ext uri="{FF2B5EF4-FFF2-40B4-BE49-F238E27FC236}">
                <a16:creationId xmlns:a16="http://schemas.microsoft.com/office/drawing/2014/main" id="{C95B907D-EDAB-27F0-111E-A0D4198C0C6C}"/>
              </a:ext>
            </a:extLst>
          </p:cNvPr>
          <p:cNvSpPr/>
          <p:nvPr/>
        </p:nvSpPr>
        <p:spPr>
          <a:xfrm>
            <a:off x="926121" y="4437182"/>
            <a:ext cx="5756033" cy="1172310"/>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2060"/>
                </a:solidFill>
              </a:rPr>
              <a:t>“This solution supports professionals across customs, logistics, and compliance — saving time and improving accuracy.”</a:t>
            </a:r>
          </a:p>
        </p:txBody>
      </p:sp>
      <p:pic>
        <p:nvPicPr>
          <p:cNvPr id="5" name="Imagen 4">
            <a:extLst>
              <a:ext uri="{FF2B5EF4-FFF2-40B4-BE49-F238E27FC236}">
                <a16:creationId xmlns:a16="http://schemas.microsoft.com/office/drawing/2014/main" id="{2A949A71-353D-7F80-65D3-A926E849EF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5043" y="0"/>
            <a:ext cx="3830836" cy="6858000"/>
          </a:xfrm>
          <a:prstGeom prst="round2DiagRect">
            <a:avLst>
              <a:gd name="adj1" fmla="val 29230"/>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549283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5000"/>
            <a:lum/>
          </a:blip>
          <a:srcRect/>
          <a:stretch>
            <a:fillRect t="-9000" b="-9000"/>
          </a:stretch>
        </a:blipFill>
        <a:effectLst/>
      </p:bgPr>
    </p:bg>
    <p:spTree>
      <p:nvGrpSpPr>
        <p:cNvPr id="1" name="">
          <a:extLst>
            <a:ext uri="{FF2B5EF4-FFF2-40B4-BE49-F238E27FC236}">
              <a16:creationId xmlns:a16="http://schemas.microsoft.com/office/drawing/2014/main" id="{8F0F8022-D158-9350-497F-3EA24EE607C6}"/>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08A37244-D2CE-B80F-BBD0-AEF6F386D6E8}"/>
              </a:ext>
            </a:extLst>
          </p:cNvPr>
          <p:cNvSpPr/>
          <p:nvPr/>
        </p:nvSpPr>
        <p:spPr>
          <a:xfrm>
            <a:off x="926121" y="838800"/>
            <a:ext cx="6189787" cy="3343542"/>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s-AR" dirty="0"/>
          </a:p>
          <a:p>
            <a:r>
              <a:rPr lang="es-AR" sz="3600" dirty="0">
                <a:solidFill>
                  <a:srgbClr val="002060"/>
                </a:solidFill>
              </a:rPr>
              <a:t>Responsible AI &amp; Limitations</a:t>
            </a:r>
          </a:p>
          <a:p>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Not a substitute for legal authority</a:t>
            </a:r>
            <a:endParaRPr lang="es-AR" sz="2000" dirty="0">
              <a:solidFill>
                <a:srgbClr val="002060"/>
              </a:solidFill>
            </a:endParaRPr>
          </a:p>
          <a:p>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Human verification required</a:t>
            </a:r>
          </a:p>
          <a:p>
            <a:pPr marL="285750" indent="-285750">
              <a:buFont typeface="Arial" panose="020B0604020202020204" pitchFamily="34" charset="0"/>
              <a:buChar char="•"/>
            </a:pPr>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Provides transparent and explainable reasoning</a:t>
            </a:r>
          </a:p>
          <a:p>
            <a:pPr marL="285750" indent="-285750">
              <a:buFont typeface="Arial" panose="020B0604020202020204" pitchFamily="34" charset="0"/>
              <a:buChar char="•"/>
            </a:pPr>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Consultative tool for decision support</a:t>
            </a:r>
            <a:endParaRPr lang="fr-FR" sz="2000" dirty="0">
              <a:solidFill>
                <a:srgbClr val="002060"/>
              </a:solidFill>
            </a:endParaRPr>
          </a:p>
        </p:txBody>
      </p:sp>
      <p:sp>
        <p:nvSpPr>
          <p:cNvPr id="3" name="Rectángulo: esquinas redondeadas 2">
            <a:extLst>
              <a:ext uri="{FF2B5EF4-FFF2-40B4-BE49-F238E27FC236}">
                <a16:creationId xmlns:a16="http://schemas.microsoft.com/office/drawing/2014/main" id="{BC573548-A0EC-47F3-228A-6011479EB93C}"/>
              </a:ext>
            </a:extLst>
          </p:cNvPr>
          <p:cNvSpPr/>
          <p:nvPr/>
        </p:nvSpPr>
        <p:spPr>
          <a:xfrm>
            <a:off x="926121" y="4437182"/>
            <a:ext cx="5756033" cy="1172310"/>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2060"/>
                </a:solidFill>
              </a:rPr>
              <a:t>“We emphasize responsible AI. The agent supports decision-making, but final classification must be verified by experts.”</a:t>
            </a:r>
          </a:p>
        </p:txBody>
      </p:sp>
      <p:pic>
        <p:nvPicPr>
          <p:cNvPr id="5" name="Imagen 4">
            <a:extLst>
              <a:ext uri="{FF2B5EF4-FFF2-40B4-BE49-F238E27FC236}">
                <a16:creationId xmlns:a16="http://schemas.microsoft.com/office/drawing/2014/main" id="{AAAB7F43-48AE-8B69-E9AA-ACDB88D5E2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5043" y="0"/>
            <a:ext cx="3830836" cy="6858000"/>
          </a:xfrm>
          <a:prstGeom prst="round2DiagRect">
            <a:avLst>
              <a:gd name="adj1" fmla="val 30173"/>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160716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5000"/>
            <a:lum/>
          </a:blip>
          <a:srcRect/>
          <a:stretch>
            <a:fillRect t="-9000" b="-9000"/>
          </a:stretch>
        </a:blipFill>
        <a:effectLst/>
      </p:bgPr>
    </p:bg>
    <p:spTree>
      <p:nvGrpSpPr>
        <p:cNvPr id="1" name="">
          <a:extLst>
            <a:ext uri="{FF2B5EF4-FFF2-40B4-BE49-F238E27FC236}">
              <a16:creationId xmlns:a16="http://schemas.microsoft.com/office/drawing/2014/main" id="{E0F9AB79-7F6B-609D-53B4-EC524AD6C20C}"/>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B96A5E58-3471-B1A7-BDB9-C47EC40DDFC7}"/>
              </a:ext>
            </a:extLst>
          </p:cNvPr>
          <p:cNvSpPr/>
          <p:nvPr/>
        </p:nvSpPr>
        <p:spPr>
          <a:xfrm>
            <a:off x="926121" y="838201"/>
            <a:ext cx="6189787" cy="3499337"/>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s-AR" dirty="0"/>
          </a:p>
          <a:p>
            <a:r>
              <a:rPr lang="en-US" sz="3600" dirty="0">
                <a:solidFill>
                  <a:srgbClr val="002060"/>
                </a:solidFill>
              </a:rPr>
              <a:t>Next Steps / Call to Action</a:t>
            </a:r>
          </a:p>
          <a:p>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Deploy full solution to Azure</a:t>
            </a:r>
            <a:endParaRPr lang="es-AR" sz="2000" dirty="0">
              <a:solidFill>
                <a:srgbClr val="002060"/>
              </a:solidFill>
            </a:endParaRPr>
          </a:p>
          <a:p>
            <a:endParaRPr lang="en-US" sz="2000" dirty="0">
              <a:solidFill>
                <a:srgbClr val="002060"/>
              </a:solidFill>
            </a:endParaRPr>
          </a:p>
          <a:p>
            <a:pPr marL="285750" indent="-285750">
              <a:buFont typeface="Arial" panose="020B0604020202020204" pitchFamily="34" charset="0"/>
              <a:buChar char="•"/>
            </a:pPr>
            <a:r>
              <a:rPr lang="en-US" sz="2000" dirty="0">
                <a:solidFill>
                  <a:srgbClr val="002060"/>
                </a:solidFill>
              </a:rPr>
              <a:t>Collaborate with customs and trade teams</a:t>
            </a:r>
          </a:p>
          <a:p>
            <a:pPr marL="285750" indent="-285750">
              <a:buFont typeface="Arial" panose="020B0604020202020204" pitchFamily="34" charset="0"/>
              <a:buChar char="•"/>
            </a:pPr>
            <a:endParaRPr lang="en-US" sz="2000" dirty="0">
              <a:solidFill>
                <a:srgbClr val="002060"/>
              </a:solidFill>
            </a:endParaRPr>
          </a:p>
          <a:p>
            <a:pPr marL="285750" indent="-285750">
              <a:buFont typeface="Arial" panose="020B0604020202020204" pitchFamily="34" charset="0"/>
              <a:buChar char="•"/>
            </a:pPr>
            <a:r>
              <a:rPr lang="fr-FR" sz="2000" dirty="0">
                <a:solidFill>
                  <a:srgbClr val="002060"/>
                </a:solidFill>
              </a:rPr>
              <a:t>Scale to multi-agent architecture</a:t>
            </a:r>
          </a:p>
          <a:p>
            <a:pPr marL="285750" indent="-285750">
              <a:buFont typeface="Arial" panose="020B0604020202020204" pitchFamily="34" charset="0"/>
              <a:buChar char="•"/>
            </a:pPr>
            <a:endParaRPr lang="fr-FR" sz="2000" dirty="0">
              <a:solidFill>
                <a:srgbClr val="002060"/>
              </a:solidFill>
            </a:endParaRPr>
          </a:p>
          <a:p>
            <a:pPr marL="285750" indent="-285750">
              <a:buFont typeface="Arial" panose="020B0604020202020204" pitchFamily="34" charset="0"/>
              <a:buChar char="•"/>
            </a:pPr>
            <a:r>
              <a:rPr lang="fr-FR" sz="2000" dirty="0">
                <a:solidFill>
                  <a:srgbClr val="002060"/>
                </a:solidFill>
              </a:rPr>
              <a:t>Public repo &amp; demo video available</a:t>
            </a:r>
          </a:p>
        </p:txBody>
      </p:sp>
      <p:sp>
        <p:nvSpPr>
          <p:cNvPr id="3" name="Rectángulo: esquinas redondeadas 2">
            <a:extLst>
              <a:ext uri="{FF2B5EF4-FFF2-40B4-BE49-F238E27FC236}">
                <a16:creationId xmlns:a16="http://schemas.microsoft.com/office/drawing/2014/main" id="{3539595C-87FD-C0B4-006F-3582B0A3DC83}"/>
              </a:ext>
            </a:extLst>
          </p:cNvPr>
          <p:cNvSpPr/>
          <p:nvPr/>
        </p:nvSpPr>
        <p:spPr>
          <a:xfrm>
            <a:off x="926121" y="4437182"/>
            <a:ext cx="5756033" cy="1172310"/>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2060"/>
                </a:solidFill>
              </a:rPr>
              <a:t>“We’re ready to scale. The repo is public, the demo is live, and we welcome collaboration to bring this into production.”</a:t>
            </a:r>
          </a:p>
        </p:txBody>
      </p:sp>
      <p:pic>
        <p:nvPicPr>
          <p:cNvPr id="5" name="Imagen 4">
            <a:extLst>
              <a:ext uri="{FF2B5EF4-FFF2-40B4-BE49-F238E27FC236}">
                <a16:creationId xmlns:a16="http://schemas.microsoft.com/office/drawing/2014/main" id="{2ECEA6F3-07E6-B28C-0DD6-FE38725772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5043" y="0"/>
            <a:ext cx="3830836" cy="6858000"/>
          </a:xfrm>
          <a:prstGeom prst="round2DiagRect">
            <a:avLst>
              <a:gd name="adj1" fmla="val 29230"/>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192999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0000"/>
            <a:lum/>
          </a:blip>
          <a:srcRect/>
          <a:stretch>
            <a:fillRect t="-9000" b="-9000"/>
          </a:stretch>
        </a:blipFill>
        <a:effectLst/>
      </p:bgPr>
    </p:bg>
    <p:spTree>
      <p:nvGrpSpPr>
        <p:cNvPr id="1" name="">
          <a:extLst>
            <a:ext uri="{FF2B5EF4-FFF2-40B4-BE49-F238E27FC236}">
              <a16:creationId xmlns:a16="http://schemas.microsoft.com/office/drawing/2014/main" id="{75485073-8257-6FC6-B1BE-D017D7367FDB}"/>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7F9429C2-589E-B5B6-117F-CD8268A81F90}"/>
              </a:ext>
            </a:extLst>
          </p:cNvPr>
          <p:cNvSpPr/>
          <p:nvPr/>
        </p:nvSpPr>
        <p:spPr>
          <a:xfrm>
            <a:off x="4132384" y="1330571"/>
            <a:ext cx="3927232" cy="3499337"/>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s-AR" dirty="0"/>
          </a:p>
          <a:p>
            <a:r>
              <a:rPr lang="es-AR" sz="8000" dirty="0">
                <a:solidFill>
                  <a:srgbClr val="002060"/>
                </a:solidFill>
              </a:rPr>
              <a:t>Thanks</a:t>
            </a:r>
            <a:endParaRPr lang="fr-FR" sz="8000" dirty="0">
              <a:solidFill>
                <a:srgbClr val="002060"/>
              </a:solidFill>
            </a:endParaRPr>
          </a:p>
        </p:txBody>
      </p:sp>
      <p:sp>
        <p:nvSpPr>
          <p:cNvPr id="4" name="Rectángulo: esquinas redondeadas 3">
            <a:extLst>
              <a:ext uri="{FF2B5EF4-FFF2-40B4-BE49-F238E27FC236}">
                <a16:creationId xmlns:a16="http://schemas.microsoft.com/office/drawing/2014/main" id="{E80F1A10-4A01-C3D2-C63A-3B8F5180373D}"/>
              </a:ext>
            </a:extLst>
          </p:cNvPr>
          <p:cNvSpPr/>
          <p:nvPr/>
        </p:nvSpPr>
        <p:spPr>
          <a:xfrm>
            <a:off x="3376246" y="4583721"/>
            <a:ext cx="5439507" cy="1887416"/>
          </a:xfrm>
          <a:prstGeom prst="round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2000" b="1" dirty="0">
                <a:solidFill>
                  <a:srgbClr val="002060"/>
                </a:solidFill>
                <a:latin typeface="Arial" panose="020B0604020202020204" pitchFamily="34" charset="0"/>
                <a:cs typeface="Arial" panose="020B0604020202020204" pitchFamily="34" charset="0"/>
              </a:rPr>
              <a:t>Fernando </a:t>
            </a:r>
            <a:endParaRPr lang="es-AR" dirty="0"/>
          </a:p>
          <a:p>
            <a:pPr algn="ctr"/>
            <a:endParaRPr lang="es-AR" dirty="0"/>
          </a:p>
          <a:p>
            <a:pPr algn="ctr"/>
            <a:endParaRPr lang="es-AR" dirty="0"/>
          </a:p>
        </p:txBody>
      </p:sp>
    </p:spTree>
    <p:extLst>
      <p:ext uri="{BB962C8B-B14F-4D97-AF65-F5344CB8AC3E}">
        <p14:creationId xmlns:p14="http://schemas.microsoft.com/office/powerpoint/2010/main" val="38775532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1509</TotalTime>
  <Words>689</Words>
  <Application>Microsoft Office PowerPoint</Application>
  <PresentationFormat>Panorámica</PresentationFormat>
  <Paragraphs>101</Paragraphs>
  <Slides>9</Slides>
  <Notes>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Fernando Guillermo Pedernera Gil</dc:creator>
  <cp:lastModifiedBy>Fernando Guillermo Pedernera Gil</cp:lastModifiedBy>
  <cp:revision>11</cp:revision>
  <dcterms:created xsi:type="dcterms:W3CDTF">2026-03-14T00:58:03Z</dcterms:created>
  <dcterms:modified xsi:type="dcterms:W3CDTF">2026-03-15T02:07:31Z</dcterms:modified>
</cp:coreProperties>
</file>